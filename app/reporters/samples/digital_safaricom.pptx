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</c:v>
                </c:pt>
              </c:strCache>
            </c:strRef>
          </c:tx>
          <c:dPt>
            <c:idx val="0"/>
            <c:spPr>
              <a:solidFill>
                <a:srgbClr val="43B02A"/>
              </a:solidFill>
            </c:spPr>
          </c:dPt>
          <c:dPt>
            <c:idx val="1"/>
            <c:spPr>
              <a:solidFill>
                <a:srgbClr val="FF4444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dLbls>
            <c:numFmt formatCode="0%" sourceLinked="0"/>
            <c:txPr>
              <a:bodyPr/>
              <a:lstStyle/>
              <a:p>
                <a:pPr>
                  <a:defRPr sz="1440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F06634"/>
            </a:solidFill>
          </c:spPr>
          <c:cat>
            <c:strRef>
              <c:f>Sheet1!$A$2:$A$34</c:f>
              <c:strCache>
                <c:ptCount val="33"/>
                <c:pt idx="0">
                  <c:v>7 Feb</c:v>
                </c:pt>
                <c:pt idx="1">
                  <c:v>8 Feb</c:v>
                </c:pt>
                <c:pt idx="2">
                  <c:v>9 Feb</c:v>
                </c:pt>
                <c:pt idx="3">
                  <c:v>10 Feb</c:v>
                </c:pt>
                <c:pt idx="4">
                  <c:v>11 Feb</c:v>
                </c:pt>
                <c:pt idx="5">
                  <c:v>13 Feb</c:v>
                </c:pt>
                <c:pt idx="6">
                  <c:v>14 Feb</c:v>
                </c:pt>
                <c:pt idx="7">
                  <c:v>15 Feb</c:v>
                </c:pt>
                <c:pt idx="8">
                  <c:v>17 Feb</c:v>
                </c:pt>
                <c:pt idx="9">
                  <c:v>18 Feb</c:v>
                </c:pt>
                <c:pt idx="10">
                  <c:v>19 Feb</c:v>
                </c:pt>
                <c:pt idx="11">
                  <c:v>20 Feb</c:v>
                </c:pt>
                <c:pt idx="12">
                  <c:v>21 Feb</c:v>
                </c:pt>
                <c:pt idx="13">
                  <c:v>22 Feb</c:v>
                </c:pt>
                <c:pt idx="14">
                  <c:v>23 Feb</c:v>
                </c:pt>
                <c:pt idx="15">
                  <c:v>24 Feb</c:v>
                </c:pt>
                <c:pt idx="16">
                  <c:v>26 Feb</c:v>
                </c:pt>
                <c:pt idx="17">
                  <c:v>27 Feb</c:v>
                </c:pt>
                <c:pt idx="18">
                  <c:v>28 Feb</c:v>
                </c:pt>
                <c:pt idx="19">
                  <c:v>3 Mar</c:v>
                </c:pt>
                <c:pt idx="20">
                  <c:v>5 Mar</c:v>
                </c:pt>
                <c:pt idx="21">
                  <c:v>6 Mar</c:v>
                </c:pt>
                <c:pt idx="22">
                  <c:v>7 Mar</c:v>
                </c:pt>
                <c:pt idx="23">
                  <c:v>8 Mar</c:v>
                </c:pt>
                <c:pt idx="24">
                  <c:v>9 Mar</c:v>
                </c:pt>
                <c:pt idx="25">
                  <c:v>17 Mar</c:v>
                </c:pt>
                <c:pt idx="26">
                  <c:v>21 Mar</c:v>
                </c:pt>
                <c:pt idx="27">
                  <c:v>22 Mar</c:v>
                </c:pt>
                <c:pt idx="28">
                  <c:v>23 Mar</c:v>
                </c:pt>
                <c:pt idx="29">
                  <c:v>24 Mar</c:v>
                </c:pt>
                <c:pt idx="30">
                  <c:v>25 Mar</c:v>
                </c:pt>
                <c:pt idx="31">
                  <c:v>26 Mar</c:v>
                </c:pt>
                <c:pt idx="32">
                  <c:v>28 Mar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1</c:v>
                </c:pt>
                <c:pt idx="5">
                  <c:v>2</c:v>
                </c:pt>
                <c:pt idx="6">
                  <c:v>4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8</c:v>
                </c:pt>
                <c:pt idx="11">
                  <c:v>4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1</c:v>
                </c:pt>
                <c:pt idx="19">
                  <c:v>4</c:v>
                </c:pt>
                <c:pt idx="20">
                  <c:v>4</c:v>
                </c:pt>
                <c:pt idx="21">
                  <c:v>9</c:v>
                </c:pt>
                <c:pt idx="22">
                  <c:v>4</c:v>
                </c:pt>
                <c:pt idx="23">
                  <c:v>4</c:v>
                </c:pt>
                <c:pt idx="24">
                  <c:v>2</c:v>
                </c:pt>
                <c:pt idx="25">
                  <c:v>2</c:v>
                </c:pt>
                <c:pt idx="26">
                  <c:v>1</c:v>
                </c:pt>
                <c:pt idx="27">
                  <c:v>1</c:v>
                </c:pt>
                <c:pt idx="28">
                  <c:v>3</c:v>
                </c:pt>
                <c:pt idx="29">
                  <c:v>2</c:v>
                </c:pt>
                <c:pt idx="30">
                  <c:v>2</c:v>
                </c:pt>
                <c:pt idx="31">
                  <c:v>1</c:v>
                </c:pt>
                <c:pt idx="3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</c:v>
                </c:pt>
              </c:strCache>
            </c:strRef>
          </c:tx>
          <c:dPt>
            <c:idx val="0"/>
            <c:spPr>
              <a:solidFill>
                <a:srgbClr val="43B02A"/>
              </a:solidFill>
            </c:spPr>
          </c:dPt>
          <c:dPt>
            <c:idx val="1"/>
            <c:spPr>
              <a:solidFill>
                <a:srgbClr val="FF4444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dLbls>
            <c:numFmt formatCode="0%" sourceLinked="0"/>
            <c:txPr>
              <a:bodyPr/>
              <a:lstStyle/>
              <a:p>
                <a:pPr>
                  <a:defRPr sz="1440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F06634"/>
            </a:solidFill>
          </c:spPr>
          <c:cat>
            <c:strRef>
              <c:f>Sheet1!$A$2:$A$13</c:f>
              <c:strCache>
                <c:ptCount val="12"/>
                <c:pt idx="0">
                  <c:v>28 Aug</c:v>
                </c:pt>
                <c:pt idx="1">
                  <c:v>29 Aug</c:v>
                </c:pt>
                <c:pt idx="2">
                  <c:v>30 Aug</c:v>
                </c:pt>
                <c:pt idx="3">
                  <c:v>31 Aug</c:v>
                </c:pt>
                <c:pt idx="4">
                  <c:v>1 Sep</c:v>
                </c:pt>
                <c:pt idx="5">
                  <c:v>3 Sep</c:v>
                </c:pt>
                <c:pt idx="6">
                  <c:v>4 Sep</c:v>
                </c:pt>
                <c:pt idx="7">
                  <c:v>5 Sep</c:v>
                </c:pt>
                <c:pt idx="8">
                  <c:v>6 Sep</c:v>
                </c:pt>
                <c:pt idx="9">
                  <c:v>7 Sep</c:v>
                </c:pt>
                <c:pt idx="10">
                  <c:v>11 May</c:v>
                </c:pt>
                <c:pt idx="11">
                  <c:v>14 Oct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</c:v>
                </c:pt>
              </c:strCache>
            </c:strRef>
          </c:tx>
          <c:dPt>
            <c:idx val="0"/>
            <c:spPr>
              <a:solidFill>
                <a:srgbClr val="43B02A"/>
              </a:solidFill>
            </c:spPr>
          </c:dPt>
          <c:dPt>
            <c:idx val="1"/>
            <c:spPr>
              <a:solidFill>
                <a:srgbClr val="FF4444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dLbls>
            <c:numFmt formatCode="0%" sourceLinked="0"/>
            <c:txPr>
              <a:bodyPr/>
              <a:lstStyle/>
              <a:p>
                <a:pPr>
                  <a:defRPr sz="1440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F06634"/>
            </a:solidFill>
          </c:spPr>
          <c:cat>
            <c:strRef>
              <c:f>Sheet1!$A$2:$A$77</c:f>
              <c:strCache>
                <c:ptCount val="76"/>
                <c:pt idx="0">
                  <c:v>15 Jul</c:v>
                </c:pt>
                <c:pt idx="1">
                  <c:v>14 Aug</c:v>
                </c:pt>
                <c:pt idx="2">
                  <c:v>1 Nov</c:v>
                </c:pt>
                <c:pt idx="3">
                  <c:v>11 Nov</c:v>
                </c:pt>
                <c:pt idx="4">
                  <c:v>22 Dec</c:v>
                </c:pt>
                <c:pt idx="5">
                  <c:v>12 Jan</c:v>
                </c:pt>
                <c:pt idx="6">
                  <c:v>29 Jan</c:v>
                </c:pt>
                <c:pt idx="7">
                  <c:v>8 Feb</c:v>
                </c:pt>
                <c:pt idx="8">
                  <c:v>20 Mar</c:v>
                </c:pt>
                <c:pt idx="9">
                  <c:v>24 Apr</c:v>
                </c:pt>
                <c:pt idx="10">
                  <c:v>28 Apr</c:v>
                </c:pt>
                <c:pt idx="11">
                  <c:v>16 Jun</c:v>
                </c:pt>
                <c:pt idx="12">
                  <c:v>17 Jun</c:v>
                </c:pt>
                <c:pt idx="13">
                  <c:v>7 Sep</c:v>
                </c:pt>
                <c:pt idx="14">
                  <c:v>13 Sep</c:v>
                </c:pt>
                <c:pt idx="15">
                  <c:v>21 Sep</c:v>
                </c:pt>
                <c:pt idx="16">
                  <c:v>26 Sep</c:v>
                </c:pt>
                <c:pt idx="17">
                  <c:v>30 Oct</c:v>
                </c:pt>
                <c:pt idx="18">
                  <c:v>17 Nov</c:v>
                </c:pt>
                <c:pt idx="19">
                  <c:v>2 Dec</c:v>
                </c:pt>
                <c:pt idx="20">
                  <c:v>27 Dec</c:v>
                </c:pt>
                <c:pt idx="21">
                  <c:v>31 Jan</c:v>
                </c:pt>
                <c:pt idx="22">
                  <c:v>3 Feb</c:v>
                </c:pt>
                <c:pt idx="23">
                  <c:v>13 Feb</c:v>
                </c:pt>
                <c:pt idx="24">
                  <c:v>4 Apr</c:v>
                </c:pt>
                <c:pt idx="25">
                  <c:v>22 Apr</c:v>
                </c:pt>
                <c:pt idx="26">
                  <c:v>23 Apr</c:v>
                </c:pt>
                <c:pt idx="27">
                  <c:v>1 Jun</c:v>
                </c:pt>
                <c:pt idx="28">
                  <c:v>6 Jun</c:v>
                </c:pt>
                <c:pt idx="29">
                  <c:v>27 Jun</c:v>
                </c:pt>
                <c:pt idx="30">
                  <c:v>29 Jun</c:v>
                </c:pt>
                <c:pt idx="31">
                  <c:v>8 Jul</c:v>
                </c:pt>
                <c:pt idx="32">
                  <c:v>11 Jul</c:v>
                </c:pt>
                <c:pt idx="33">
                  <c:v>14 Jul</c:v>
                </c:pt>
                <c:pt idx="34">
                  <c:v>20 Jul</c:v>
                </c:pt>
                <c:pt idx="35">
                  <c:v>24 Jul</c:v>
                </c:pt>
                <c:pt idx="36">
                  <c:v>10 Aug</c:v>
                </c:pt>
                <c:pt idx="37">
                  <c:v>27 Aug</c:v>
                </c:pt>
                <c:pt idx="38">
                  <c:v>12 Sep</c:v>
                </c:pt>
                <c:pt idx="39">
                  <c:v>21 Sep</c:v>
                </c:pt>
                <c:pt idx="40">
                  <c:v>31 Oct</c:v>
                </c:pt>
                <c:pt idx="41">
                  <c:v>10 Nov</c:v>
                </c:pt>
                <c:pt idx="42">
                  <c:v>12 Nov</c:v>
                </c:pt>
                <c:pt idx="43">
                  <c:v>17 Nov</c:v>
                </c:pt>
                <c:pt idx="44">
                  <c:v>24 Nov</c:v>
                </c:pt>
                <c:pt idx="45">
                  <c:v>25 Nov</c:v>
                </c:pt>
                <c:pt idx="46">
                  <c:v>30 Nov</c:v>
                </c:pt>
                <c:pt idx="47">
                  <c:v>8 Dec</c:v>
                </c:pt>
                <c:pt idx="48">
                  <c:v>12 Dec</c:v>
                </c:pt>
                <c:pt idx="49">
                  <c:v>16 Dec</c:v>
                </c:pt>
                <c:pt idx="50">
                  <c:v>23 Dec</c:v>
                </c:pt>
                <c:pt idx="51">
                  <c:v>28 Dec</c:v>
                </c:pt>
                <c:pt idx="52">
                  <c:v>29 Dec</c:v>
                </c:pt>
                <c:pt idx="53">
                  <c:v>7 Jan</c:v>
                </c:pt>
                <c:pt idx="54">
                  <c:v>24 Jan</c:v>
                </c:pt>
                <c:pt idx="55">
                  <c:v>25 Jan</c:v>
                </c:pt>
                <c:pt idx="56">
                  <c:v>8 Feb</c:v>
                </c:pt>
                <c:pt idx="57">
                  <c:v>9 Feb</c:v>
                </c:pt>
                <c:pt idx="58">
                  <c:v>10 Feb</c:v>
                </c:pt>
                <c:pt idx="59">
                  <c:v>11 Feb</c:v>
                </c:pt>
                <c:pt idx="60">
                  <c:v>13 Feb</c:v>
                </c:pt>
                <c:pt idx="61">
                  <c:v>16 Feb</c:v>
                </c:pt>
                <c:pt idx="62">
                  <c:v>18 Feb</c:v>
                </c:pt>
                <c:pt idx="63">
                  <c:v>23 Feb</c:v>
                </c:pt>
                <c:pt idx="64">
                  <c:v>25 Feb</c:v>
                </c:pt>
                <c:pt idx="65">
                  <c:v>2 Mar</c:v>
                </c:pt>
                <c:pt idx="66">
                  <c:v>6 Mar</c:v>
                </c:pt>
                <c:pt idx="67">
                  <c:v>11 Mar</c:v>
                </c:pt>
                <c:pt idx="68">
                  <c:v>13 Mar</c:v>
                </c:pt>
                <c:pt idx="69">
                  <c:v>14 Mar</c:v>
                </c:pt>
                <c:pt idx="70">
                  <c:v>16 Mar</c:v>
                </c:pt>
                <c:pt idx="71">
                  <c:v>20 Mar</c:v>
                </c:pt>
                <c:pt idx="72">
                  <c:v>21 Mar</c:v>
                </c:pt>
                <c:pt idx="73">
                  <c:v>22 Mar</c:v>
                </c:pt>
                <c:pt idx="74">
                  <c:v>24 Mar</c:v>
                </c:pt>
                <c:pt idx="75">
                  <c:v>25 Mar</c:v>
                </c:pt>
              </c:strCache>
            </c:str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3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2</c:v>
                </c:pt>
                <c:pt idx="33">
                  <c:v>2</c:v>
                </c:pt>
                <c:pt idx="34">
                  <c:v>1</c:v>
                </c:pt>
                <c:pt idx="35">
                  <c:v>1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2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2</c:v>
                </c:pt>
                <c:pt idx="48">
                  <c:v>4</c:v>
                </c:pt>
                <c:pt idx="49">
                  <c:v>2</c:v>
                </c:pt>
                <c:pt idx="50">
                  <c:v>1</c:v>
                </c:pt>
                <c:pt idx="51">
                  <c:v>1</c:v>
                </c:pt>
                <c:pt idx="52">
                  <c:v>2</c:v>
                </c:pt>
                <c:pt idx="53">
                  <c:v>1</c:v>
                </c:pt>
                <c:pt idx="54">
                  <c:v>2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2</c:v>
                </c:pt>
                <c:pt idx="60">
                  <c:v>2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2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2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4</c:v>
                </c:pt>
                <c:pt idx="75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</c:v>
                </c:pt>
              </c:strCache>
            </c:strRef>
          </c:tx>
          <c:dPt>
            <c:idx val="0"/>
            <c:spPr>
              <a:solidFill>
                <a:srgbClr val="43B02A"/>
              </a:solidFill>
            </c:spPr>
          </c:dPt>
          <c:dPt>
            <c:idx val="1"/>
            <c:spPr>
              <a:solidFill>
                <a:srgbClr val="FF4444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dLbls>
            <c:numFmt formatCode="0%" sourceLinked="0"/>
            <c:txPr>
              <a:bodyPr/>
              <a:lstStyle/>
              <a:p>
                <a:pPr>
                  <a:defRPr sz="1440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7</c:v>
                </c:pt>
                <c:pt idx="2">
                  <c:v>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F06634"/>
            </a:solidFill>
          </c:spPr>
          <c:cat>
            <c:strRef>
              <c:f>Sheet1!$A$2:$A$14</c:f>
              <c:strCache>
                <c:ptCount val="13"/>
                <c:pt idx="0">
                  <c:v>22 Jun</c:v>
                </c:pt>
                <c:pt idx="1">
                  <c:v>18 Jul</c:v>
                </c:pt>
                <c:pt idx="2">
                  <c:v>25 Sep</c:v>
                </c:pt>
                <c:pt idx="3">
                  <c:v>4 Nov</c:v>
                </c:pt>
                <c:pt idx="4">
                  <c:v>22 Nov</c:v>
                </c:pt>
                <c:pt idx="5">
                  <c:v>29 Nov</c:v>
                </c:pt>
                <c:pt idx="6">
                  <c:v>18 Dec</c:v>
                </c:pt>
                <c:pt idx="7">
                  <c:v>11 Feb</c:v>
                </c:pt>
                <c:pt idx="8">
                  <c:v>17 Feb</c:v>
                </c:pt>
                <c:pt idx="9">
                  <c:v>21 Feb</c:v>
                </c:pt>
                <c:pt idx="10">
                  <c:v>8 Mar</c:v>
                </c:pt>
                <c:pt idx="11">
                  <c:v>14 Mar</c:v>
                </c:pt>
                <c:pt idx="12">
                  <c:v>28 Mar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</c:v>
                </c:pt>
              </c:strCache>
            </c:strRef>
          </c:tx>
          <c:dPt>
            <c:idx val="0"/>
            <c:spPr>
              <a:solidFill>
                <a:srgbClr val="43B02A"/>
              </a:solidFill>
            </c:spPr>
          </c:dPt>
          <c:dPt>
            <c:idx val="1"/>
            <c:spPr>
              <a:solidFill>
                <a:srgbClr val="FF4444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dLbls>
            <c:numFmt formatCode="0%" sourceLinked="0"/>
            <c:txPr>
              <a:bodyPr/>
              <a:lstStyle/>
              <a:p>
                <a:pPr>
                  <a:defRPr sz="1440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2084832"/>
            <a:ext cx="4315968" cy="2144618"/>
          </a:xfrm>
        </p:spPr>
        <p:txBody>
          <a:bodyPr anchor="b"/>
          <a:lstStyle>
            <a:lvl1pPr algn="l">
              <a:defRPr sz="6000" b="1" baseline="0"/>
            </a:lvl1pPr>
          </a:lstStyle>
          <a:p>
            <a:r>
              <a:rPr lang="en-US" dirty="0" smtClean="0"/>
              <a:t>MEDIA TYPE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200" y="4450080"/>
            <a:ext cx="4315968" cy="92964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REPORT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6197600" y="0"/>
            <a:ext cx="59944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12954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 smtClean="0"/>
              <a:t>Oxygene</a:t>
            </a:r>
            <a:r>
              <a:rPr lang="en-US" dirty="0" smtClean="0"/>
              <a:t> Monitor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351532" y="6356348"/>
            <a:ext cx="2802636" cy="365125"/>
          </a:xfrm>
        </p:spPr>
        <p:txBody>
          <a:bodyPr/>
          <a:lstStyle/>
          <a:p>
            <a:r>
              <a:rPr lang="en-US" dirty="0" smtClean="0"/>
              <a:t>info@oxygene.co.ke | ai.oxygene.co.ke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838200" y="791655"/>
            <a:ext cx="2417763" cy="804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30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2084832"/>
            <a:ext cx="4315968" cy="2144618"/>
          </a:xfrm>
        </p:spPr>
        <p:txBody>
          <a:bodyPr anchor="b"/>
          <a:lstStyle>
            <a:lvl1pPr algn="l">
              <a:defRPr sz="6000" b="1" baseline="0"/>
            </a:lvl1pPr>
          </a:lstStyle>
          <a:p>
            <a:r>
              <a:rPr lang="en-US" dirty="0" smtClean="0"/>
              <a:t>MEDIA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7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835533" y="5429899"/>
            <a:ext cx="9986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baseline="0" dirty="0" smtClean="0"/>
              <a:t>Mentions</a:t>
            </a:r>
            <a:endParaRPr lang="en-US" sz="1600" b="1" i="0" baseline="0" dirty="0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8244219" y="5429899"/>
            <a:ext cx="747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0" baseline="0" dirty="0" smtClean="0"/>
              <a:t>Effects</a:t>
            </a:r>
            <a:endParaRPr lang="en-US" sz="1600" b="1" i="0" baseline="0" dirty="0"/>
          </a:p>
        </p:txBody>
      </p:sp>
      <p:sp>
        <p:nvSpPr>
          <p:cNvPr id="24" name="Flowchart: Alternate Process 23"/>
          <p:cNvSpPr/>
          <p:nvPr userDrawn="1"/>
        </p:nvSpPr>
        <p:spPr>
          <a:xfrm>
            <a:off x="8331306" y="5895665"/>
            <a:ext cx="954705" cy="312372"/>
          </a:xfrm>
          <a:prstGeom prst="flowChartAlternate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High</a:t>
            </a:r>
            <a:endParaRPr lang="en-US" sz="1400" dirty="0"/>
          </a:p>
        </p:txBody>
      </p:sp>
      <p:sp>
        <p:nvSpPr>
          <p:cNvPr id="25" name="Flowchart: Alternate Process 24"/>
          <p:cNvSpPr/>
          <p:nvPr userDrawn="1"/>
        </p:nvSpPr>
        <p:spPr>
          <a:xfrm>
            <a:off x="9441583" y="5895665"/>
            <a:ext cx="1142984" cy="312372"/>
          </a:xfrm>
          <a:prstGeom prst="flowChartAlternate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Moderate</a:t>
            </a:r>
            <a:endParaRPr lang="en-US" sz="1400" dirty="0"/>
          </a:p>
        </p:txBody>
      </p:sp>
      <p:sp>
        <p:nvSpPr>
          <p:cNvPr id="26" name="Flowchart: Alternate Process 25"/>
          <p:cNvSpPr/>
          <p:nvPr userDrawn="1"/>
        </p:nvSpPr>
        <p:spPr>
          <a:xfrm>
            <a:off x="10740139" y="5895665"/>
            <a:ext cx="883819" cy="312372"/>
          </a:xfrm>
          <a:prstGeom prst="flowChartAlternateProces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Low</a:t>
            </a:r>
            <a:endParaRPr lang="en-US" sz="1400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35533" y="1411192"/>
            <a:ext cx="10734675" cy="52156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835533" y="5890401"/>
            <a:ext cx="7214946" cy="84025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23"/>
          </p:nvPr>
        </p:nvSpPr>
        <p:spPr>
          <a:xfrm>
            <a:off x="835025" y="2157413"/>
            <a:ext cx="10734675" cy="3146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ntiment With Sourc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835534" y="5473249"/>
            <a:ext cx="1055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baseline="0" dirty="0" smtClean="0"/>
              <a:t>Mentions</a:t>
            </a:r>
            <a:endParaRPr lang="en-US" sz="1600" b="1" i="0" baseline="0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4540877" y="2032062"/>
            <a:ext cx="677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0" baseline="0" dirty="0" smtClean="0"/>
              <a:t>Sources</a:t>
            </a:r>
            <a:endParaRPr lang="en-US" sz="1200" b="1" i="0" baseline="0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8883972" y="2021964"/>
            <a:ext cx="84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0" baseline="0" dirty="0" smtClean="0"/>
              <a:t>Sentiment</a:t>
            </a:r>
            <a:endParaRPr lang="en-US" sz="1200" b="1" i="0" baseline="0" dirty="0"/>
          </a:p>
        </p:txBody>
      </p:sp>
      <p:sp>
        <p:nvSpPr>
          <p:cNvPr id="30" name="TextBox 29"/>
          <p:cNvSpPr txBox="1"/>
          <p:nvPr userDrawn="1"/>
        </p:nvSpPr>
        <p:spPr>
          <a:xfrm>
            <a:off x="1359438" y="2664944"/>
            <a:ext cx="597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Total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1242804" y="3439716"/>
            <a:ext cx="83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Positive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199523" y="4204511"/>
            <a:ext cx="917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Negative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35533" y="1411192"/>
            <a:ext cx="10734675" cy="52156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835533" y="5890401"/>
            <a:ext cx="10734674" cy="84025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23"/>
          </p:nvPr>
        </p:nvSpPr>
        <p:spPr>
          <a:xfrm>
            <a:off x="2724785" y="2388173"/>
            <a:ext cx="4309999" cy="29337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Chart Placeholder 3"/>
          <p:cNvSpPr>
            <a:spLocks noGrp="1"/>
          </p:cNvSpPr>
          <p:nvPr>
            <p:ph type="chart" sz="quarter" idx="24"/>
          </p:nvPr>
        </p:nvSpPr>
        <p:spPr>
          <a:xfrm>
            <a:off x="7260208" y="2388173"/>
            <a:ext cx="4309999" cy="29337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835533" y="2341649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835533" y="3091842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35533" y="3853842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33" name="TextBox 32"/>
          <p:cNvSpPr txBox="1"/>
          <p:nvPr userDrawn="1"/>
        </p:nvSpPr>
        <p:spPr>
          <a:xfrm>
            <a:off x="1253897" y="5039663"/>
            <a:ext cx="808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Neutral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835533" y="4688994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36" name="Rectangle 35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38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7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nti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835534" y="5473249"/>
            <a:ext cx="1055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baseline="0" dirty="0" smtClean="0"/>
              <a:t>Mentions</a:t>
            </a:r>
            <a:endParaRPr lang="en-US" sz="1600" b="1" i="0" baseline="0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8103016" y="2021964"/>
            <a:ext cx="84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0" baseline="0" dirty="0" smtClean="0"/>
              <a:t>Sentiment</a:t>
            </a:r>
            <a:endParaRPr lang="en-US" sz="1200" b="1" i="0" baseline="0" dirty="0"/>
          </a:p>
        </p:txBody>
      </p:sp>
      <p:sp>
        <p:nvSpPr>
          <p:cNvPr id="30" name="TextBox 29"/>
          <p:cNvSpPr txBox="1"/>
          <p:nvPr userDrawn="1"/>
        </p:nvSpPr>
        <p:spPr>
          <a:xfrm>
            <a:off x="1359438" y="3106946"/>
            <a:ext cx="597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Total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3595859" y="3131525"/>
            <a:ext cx="83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Positive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199523" y="4204511"/>
            <a:ext cx="917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Negative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35533" y="1411192"/>
            <a:ext cx="10734675" cy="52156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835533" y="5890401"/>
            <a:ext cx="10734674" cy="84025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26" name="Chart Placeholder 3"/>
          <p:cNvSpPr>
            <a:spLocks noGrp="1"/>
          </p:cNvSpPr>
          <p:nvPr>
            <p:ph type="chart" sz="quarter" idx="24"/>
          </p:nvPr>
        </p:nvSpPr>
        <p:spPr>
          <a:xfrm>
            <a:off x="5314422" y="2388173"/>
            <a:ext cx="6255785" cy="29337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835533" y="2783651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3188588" y="2783651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35533" y="3853842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33" name="TextBox 32"/>
          <p:cNvSpPr txBox="1"/>
          <p:nvPr userDrawn="1"/>
        </p:nvSpPr>
        <p:spPr>
          <a:xfrm>
            <a:off x="3606952" y="4204511"/>
            <a:ext cx="808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Neutral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3188588" y="3853842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36" name="Rectangle 35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38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07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81" y="2105305"/>
            <a:ext cx="4244668" cy="4251951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18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" name="Chart Placeholder 3"/>
          <p:cNvSpPr>
            <a:spLocks noGrp="1"/>
          </p:cNvSpPr>
          <p:nvPr>
            <p:ph type="chart" sz="quarter" idx="23"/>
          </p:nvPr>
        </p:nvSpPr>
        <p:spPr>
          <a:xfrm>
            <a:off x="5375783" y="1570210"/>
            <a:ext cx="6194425" cy="4799013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849313" y="1603609"/>
            <a:ext cx="4259136" cy="28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Summary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62321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10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81" y="2105305"/>
            <a:ext cx="4244668" cy="4251951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5384801" y="1582177"/>
            <a:ext cx="6185408" cy="47750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849313" y="1603609"/>
            <a:ext cx="4259136" cy="28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Summary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69591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11001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32" name="Title 1"/>
          <p:cNvSpPr>
            <a:spLocks noGrp="1"/>
          </p:cNvSpPr>
          <p:nvPr>
            <p:ph type="body" sz="quarter" idx="21" hasCustomPrompt="1"/>
          </p:nvPr>
        </p:nvSpPr>
        <p:spPr>
          <a:xfrm>
            <a:off x="911001" y="1502954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33" name="Summary 1"/>
          <p:cNvSpPr>
            <a:spLocks noGrp="1"/>
          </p:cNvSpPr>
          <p:nvPr>
            <p:ph type="body" sz="quarter" idx="22" hasCustomPrompt="1"/>
          </p:nvPr>
        </p:nvSpPr>
        <p:spPr>
          <a:xfrm>
            <a:off x="911001" y="1886681"/>
            <a:ext cx="10705558" cy="59000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4" name="Meta 1"/>
          <p:cNvSpPr>
            <a:spLocks noGrp="1"/>
          </p:cNvSpPr>
          <p:nvPr>
            <p:ph type="body" sz="quarter" idx="23" hasCustomPrompt="1"/>
          </p:nvPr>
        </p:nvSpPr>
        <p:spPr>
          <a:xfrm>
            <a:off x="911001" y="2611109"/>
            <a:ext cx="7656108" cy="33948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Mention Details</a:t>
            </a:r>
            <a:endParaRPr lang="en-US" dirty="0"/>
          </a:p>
        </p:txBody>
      </p:sp>
      <p:sp>
        <p:nvSpPr>
          <p:cNvPr id="35" name="Link 1"/>
          <p:cNvSpPr>
            <a:spLocks noGrp="1"/>
          </p:cNvSpPr>
          <p:nvPr>
            <p:ph type="body" sz="quarter" idx="24" hasCustomPrompt="1"/>
          </p:nvPr>
        </p:nvSpPr>
        <p:spPr>
          <a:xfrm>
            <a:off x="8718115" y="2611109"/>
            <a:ext cx="2851223" cy="339485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 dirty="0" smtClean="0"/>
              <a:t>Link Details</a:t>
            </a:r>
            <a:endParaRPr lang="en-US" dirty="0"/>
          </a:p>
        </p:txBody>
      </p:sp>
      <p:sp>
        <p:nvSpPr>
          <p:cNvPr id="44" name="Title 2"/>
          <p:cNvSpPr>
            <a:spLocks noGrp="1"/>
          </p:cNvSpPr>
          <p:nvPr>
            <p:ph type="body" sz="quarter" idx="25" hasCustomPrompt="1"/>
          </p:nvPr>
        </p:nvSpPr>
        <p:spPr>
          <a:xfrm>
            <a:off x="911001" y="3270794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45" name="Summary 2"/>
          <p:cNvSpPr>
            <a:spLocks noGrp="1"/>
          </p:cNvSpPr>
          <p:nvPr>
            <p:ph type="body" sz="quarter" idx="26" hasCustomPrompt="1"/>
          </p:nvPr>
        </p:nvSpPr>
        <p:spPr>
          <a:xfrm>
            <a:off x="911001" y="3654521"/>
            <a:ext cx="10705558" cy="59000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6" name="Meta 2"/>
          <p:cNvSpPr>
            <a:spLocks noGrp="1"/>
          </p:cNvSpPr>
          <p:nvPr>
            <p:ph type="body" sz="quarter" idx="27" hasCustomPrompt="1"/>
          </p:nvPr>
        </p:nvSpPr>
        <p:spPr>
          <a:xfrm>
            <a:off x="911001" y="4378949"/>
            <a:ext cx="7656108" cy="33948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Mention Details</a:t>
            </a:r>
            <a:endParaRPr lang="en-US" dirty="0"/>
          </a:p>
        </p:txBody>
      </p:sp>
      <p:sp>
        <p:nvSpPr>
          <p:cNvPr id="47" name="Link 2"/>
          <p:cNvSpPr>
            <a:spLocks noGrp="1"/>
          </p:cNvSpPr>
          <p:nvPr>
            <p:ph type="body" sz="quarter" idx="28" hasCustomPrompt="1"/>
          </p:nvPr>
        </p:nvSpPr>
        <p:spPr>
          <a:xfrm>
            <a:off x="8689136" y="4378949"/>
            <a:ext cx="2851223" cy="339485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 dirty="0" smtClean="0"/>
              <a:t>Link Details</a:t>
            </a:r>
            <a:endParaRPr lang="en-US" dirty="0"/>
          </a:p>
        </p:txBody>
      </p:sp>
      <p:sp>
        <p:nvSpPr>
          <p:cNvPr id="56" name="Title 3"/>
          <p:cNvSpPr>
            <a:spLocks noGrp="1"/>
          </p:cNvSpPr>
          <p:nvPr>
            <p:ph type="body" sz="quarter" idx="29" hasCustomPrompt="1"/>
          </p:nvPr>
        </p:nvSpPr>
        <p:spPr>
          <a:xfrm>
            <a:off x="911001" y="4976339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57" name="Summary 3"/>
          <p:cNvSpPr>
            <a:spLocks noGrp="1"/>
          </p:cNvSpPr>
          <p:nvPr>
            <p:ph type="body" sz="quarter" idx="30" hasCustomPrompt="1"/>
          </p:nvPr>
        </p:nvSpPr>
        <p:spPr>
          <a:xfrm>
            <a:off x="911001" y="5360066"/>
            <a:ext cx="10705558" cy="59000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58" name="Meta 3"/>
          <p:cNvSpPr>
            <a:spLocks noGrp="1"/>
          </p:cNvSpPr>
          <p:nvPr>
            <p:ph type="body" sz="quarter" idx="31" hasCustomPrompt="1"/>
          </p:nvPr>
        </p:nvSpPr>
        <p:spPr>
          <a:xfrm>
            <a:off x="911001" y="6084494"/>
            <a:ext cx="7656108" cy="33948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Mention Details</a:t>
            </a:r>
            <a:endParaRPr lang="en-US" dirty="0"/>
          </a:p>
        </p:txBody>
      </p:sp>
      <p:sp>
        <p:nvSpPr>
          <p:cNvPr id="59" name="Link 3"/>
          <p:cNvSpPr>
            <a:spLocks noGrp="1"/>
          </p:cNvSpPr>
          <p:nvPr>
            <p:ph type="body" sz="quarter" idx="32" hasCustomPrompt="1"/>
          </p:nvPr>
        </p:nvSpPr>
        <p:spPr>
          <a:xfrm>
            <a:off x="8703603" y="6084494"/>
            <a:ext cx="2851223" cy="339485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 dirty="0" smtClean="0"/>
              <a:t>Link Details</a:t>
            </a:r>
            <a:endParaRPr lang="en-US" dirty="0"/>
          </a:p>
        </p:txBody>
      </p:sp>
      <p:sp>
        <p:nvSpPr>
          <p:cNvPr id="19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1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luencer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 1"/>
          <p:cNvSpPr>
            <a:spLocks noGrp="1"/>
          </p:cNvSpPr>
          <p:nvPr>
            <p:ph type="pic" sz="quarter" idx="11"/>
          </p:nvPr>
        </p:nvSpPr>
        <p:spPr>
          <a:xfrm>
            <a:off x="849313" y="1698625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69" name="Influencer 1"/>
          <p:cNvSpPr>
            <a:spLocks noGrp="1"/>
          </p:cNvSpPr>
          <p:nvPr>
            <p:ph type="body" sz="quarter" idx="22" hasCustomPrompt="1"/>
          </p:nvPr>
        </p:nvSpPr>
        <p:spPr>
          <a:xfrm>
            <a:off x="2156005" y="1736090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70" name="Handle 1"/>
          <p:cNvSpPr>
            <a:spLocks noGrp="1"/>
          </p:cNvSpPr>
          <p:nvPr>
            <p:ph type="body" sz="quarter" idx="23" hasCustomPrompt="1"/>
          </p:nvPr>
        </p:nvSpPr>
        <p:spPr>
          <a:xfrm>
            <a:off x="2156005" y="205547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71" name="Followers 1"/>
          <p:cNvSpPr>
            <a:spLocks noGrp="1"/>
          </p:cNvSpPr>
          <p:nvPr>
            <p:ph type="body" sz="quarter" idx="24" hasCustomPrompt="1"/>
          </p:nvPr>
        </p:nvSpPr>
        <p:spPr>
          <a:xfrm>
            <a:off x="2156005" y="237486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67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65" name="Rectangle 64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72" name="Pic 2"/>
          <p:cNvSpPr>
            <a:spLocks noGrp="1"/>
          </p:cNvSpPr>
          <p:nvPr>
            <p:ph type="pic" sz="quarter" idx="25"/>
          </p:nvPr>
        </p:nvSpPr>
        <p:spPr>
          <a:xfrm>
            <a:off x="4469765" y="1698625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73" name="Influencer 2"/>
          <p:cNvSpPr>
            <a:spLocks noGrp="1"/>
          </p:cNvSpPr>
          <p:nvPr>
            <p:ph type="body" sz="quarter" idx="26" hasCustomPrompt="1"/>
          </p:nvPr>
        </p:nvSpPr>
        <p:spPr>
          <a:xfrm>
            <a:off x="5776457" y="1736090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74" name="Handle 2"/>
          <p:cNvSpPr>
            <a:spLocks noGrp="1"/>
          </p:cNvSpPr>
          <p:nvPr>
            <p:ph type="body" sz="quarter" idx="27" hasCustomPrompt="1"/>
          </p:nvPr>
        </p:nvSpPr>
        <p:spPr>
          <a:xfrm>
            <a:off x="5776457" y="205547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75" name="Followers 2"/>
          <p:cNvSpPr>
            <a:spLocks noGrp="1"/>
          </p:cNvSpPr>
          <p:nvPr>
            <p:ph type="body" sz="quarter" idx="28" hasCustomPrompt="1"/>
          </p:nvPr>
        </p:nvSpPr>
        <p:spPr>
          <a:xfrm>
            <a:off x="5776457" y="237486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80" name="Pic 3"/>
          <p:cNvSpPr>
            <a:spLocks noGrp="1"/>
          </p:cNvSpPr>
          <p:nvPr>
            <p:ph type="pic" sz="quarter" idx="29"/>
          </p:nvPr>
        </p:nvSpPr>
        <p:spPr>
          <a:xfrm>
            <a:off x="8090218" y="1698625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81" name="Influencer 3"/>
          <p:cNvSpPr>
            <a:spLocks noGrp="1"/>
          </p:cNvSpPr>
          <p:nvPr>
            <p:ph type="body" sz="quarter" idx="30" hasCustomPrompt="1"/>
          </p:nvPr>
        </p:nvSpPr>
        <p:spPr>
          <a:xfrm>
            <a:off x="9396910" y="1736090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82" name="Handle 3"/>
          <p:cNvSpPr>
            <a:spLocks noGrp="1"/>
          </p:cNvSpPr>
          <p:nvPr>
            <p:ph type="body" sz="quarter" idx="31" hasCustomPrompt="1"/>
          </p:nvPr>
        </p:nvSpPr>
        <p:spPr>
          <a:xfrm>
            <a:off x="9396910" y="205547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83" name="Followers 3"/>
          <p:cNvSpPr>
            <a:spLocks noGrp="1"/>
          </p:cNvSpPr>
          <p:nvPr>
            <p:ph type="body" sz="quarter" idx="32" hasCustomPrompt="1"/>
          </p:nvPr>
        </p:nvSpPr>
        <p:spPr>
          <a:xfrm>
            <a:off x="9396910" y="237486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93" name="Pic 4"/>
          <p:cNvSpPr>
            <a:spLocks noGrp="1"/>
          </p:cNvSpPr>
          <p:nvPr>
            <p:ph type="pic" sz="quarter" idx="33"/>
          </p:nvPr>
        </p:nvSpPr>
        <p:spPr>
          <a:xfrm>
            <a:off x="867273" y="3104914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94" name="Influencer 4"/>
          <p:cNvSpPr>
            <a:spLocks noGrp="1"/>
          </p:cNvSpPr>
          <p:nvPr>
            <p:ph type="body" sz="quarter" idx="34" hasCustomPrompt="1"/>
          </p:nvPr>
        </p:nvSpPr>
        <p:spPr>
          <a:xfrm>
            <a:off x="2173965" y="3142379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95" name="Handle 4"/>
          <p:cNvSpPr>
            <a:spLocks noGrp="1"/>
          </p:cNvSpPr>
          <p:nvPr>
            <p:ph type="body" sz="quarter" idx="35" hasCustomPrompt="1"/>
          </p:nvPr>
        </p:nvSpPr>
        <p:spPr>
          <a:xfrm>
            <a:off x="2173965" y="3461767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96" name="Followers 4"/>
          <p:cNvSpPr>
            <a:spLocks noGrp="1"/>
          </p:cNvSpPr>
          <p:nvPr>
            <p:ph type="body" sz="quarter" idx="36" hasCustomPrompt="1"/>
          </p:nvPr>
        </p:nvSpPr>
        <p:spPr>
          <a:xfrm>
            <a:off x="2173965" y="3781155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97" name="Pic 5"/>
          <p:cNvSpPr>
            <a:spLocks noGrp="1"/>
          </p:cNvSpPr>
          <p:nvPr>
            <p:ph type="pic" sz="quarter" idx="37"/>
          </p:nvPr>
        </p:nvSpPr>
        <p:spPr>
          <a:xfrm>
            <a:off x="4487725" y="3104914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98" name="Influencer 5"/>
          <p:cNvSpPr>
            <a:spLocks noGrp="1"/>
          </p:cNvSpPr>
          <p:nvPr>
            <p:ph type="body" sz="quarter" idx="38" hasCustomPrompt="1"/>
          </p:nvPr>
        </p:nvSpPr>
        <p:spPr>
          <a:xfrm>
            <a:off x="5794417" y="3142379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99" name="Handle 5"/>
          <p:cNvSpPr>
            <a:spLocks noGrp="1"/>
          </p:cNvSpPr>
          <p:nvPr>
            <p:ph type="body" sz="quarter" idx="39" hasCustomPrompt="1"/>
          </p:nvPr>
        </p:nvSpPr>
        <p:spPr>
          <a:xfrm>
            <a:off x="5794417" y="3461767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00" name="Followers 5"/>
          <p:cNvSpPr>
            <a:spLocks noGrp="1"/>
          </p:cNvSpPr>
          <p:nvPr>
            <p:ph type="body" sz="quarter" idx="40" hasCustomPrompt="1"/>
          </p:nvPr>
        </p:nvSpPr>
        <p:spPr>
          <a:xfrm>
            <a:off x="5794417" y="3781155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101" name="Pic 6"/>
          <p:cNvSpPr>
            <a:spLocks noGrp="1"/>
          </p:cNvSpPr>
          <p:nvPr>
            <p:ph type="pic" sz="quarter" idx="41"/>
          </p:nvPr>
        </p:nvSpPr>
        <p:spPr>
          <a:xfrm>
            <a:off x="8108178" y="3104914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102" name="Influencer 6"/>
          <p:cNvSpPr>
            <a:spLocks noGrp="1"/>
          </p:cNvSpPr>
          <p:nvPr>
            <p:ph type="body" sz="quarter" idx="42" hasCustomPrompt="1"/>
          </p:nvPr>
        </p:nvSpPr>
        <p:spPr>
          <a:xfrm>
            <a:off x="9414870" y="3142379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103" name="Handle 6"/>
          <p:cNvSpPr>
            <a:spLocks noGrp="1"/>
          </p:cNvSpPr>
          <p:nvPr>
            <p:ph type="body" sz="quarter" idx="43" hasCustomPrompt="1"/>
          </p:nvPr>
        </p:nvSpPr>
        <p:spPr>
          <a:xfrm>
            <a:off x="9414870" y="3461767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04" name="Followers 6"/>
          <p:cNvSpPr>
            <a:spLocks noGrp="1"/>
          </p:cNvSpPr>
          <p:nvPr>
            <p:ph type="body" sz="quarter" idx="44" hasCustomPrompt="1"/>
          </p:nvPr>
        </p:nvSpPr>
        <p:spPr>
          <a:xfrm>
            <a:off x="9414870" y="3781155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105" name="Pic 7"/>
          <p:cNvSpPr>
            <a:spLocks noGrp="1"/>
          </p:cNvSpPr>
          <p:nvPr>
            <p:ph type="pic" sz="quarter" idx="45"/>
          </p:nvPr>
        </p:nvSpPr>
        <p:spPr>
          <a:xfrm>
            <a:off x="841376" y="4511203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106" name="Influencer 7"/>
          <p:cNvSpPr>
            <a:spLocks noGrp="1"/>
          </p:cNvSpPr>
          <p:nvPr>
            <p:ph type="body" sz="quarter" idx="46" hasCustomPrompt="1"/>
          </p:nvPr>
        </p:nvSpPr>
        <p:spPr>
          <a:xfrm>
            <a:off x="2148068" y="454866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107" name="Handle 7"/>
          <p:cNvSpPr>
            <a:spLocks noGrp="1"/>
          </p:cNvSpPr>
          <p:nvPr>
            <p:ph type="body" sz="quarter" idx="47" hasCustomPrompt="1"/>
          </p:nvPr>
        </p:nvSpPr>
        <p:spPr>
          <a:xfrm>
            <a:off x="2148068" y="486805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08" name="Followers 7"/>
          <p:cNvSpPr>
            <a:spLocks noGrp="1"/>
          </p:cNvSpPr>
          <p:nvPr>
            <p:ph type="body" sz="quarter" idx="48" hasCustomPrompt="1"/>
          </p:nvPr>
        </p:nvSpPr>
        <p:spPr>
          <a:xfrm>
            <a:off x="2148068" y="5187444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109" name="Pic 8"/>
          <p:cNvSpPr>
            <a:spLocks noGrp="1"/>
          </p:cNvSpPr>
          <p:nvPr>
            <p:ph type="pic" sz="quarter" idx="49"/>
          </p:nvPr>
        </p:nvSpPr>
        <p:spPr>
          <a:xfrm>
            <a:off x="4461828" y="4511203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110" name="Influencer 8"/>
          <p:cNvSpPr>
            <a:spLocks noGrp="1"/>
          </p:cNvSpPr>
          <p:nvPr>
            <p:ph type="body" sz="quarter" idx="50" hasCustomPrompt="1"/>
          </p:nvPr>
        </p:nvSpPr>
        <p:spPr>
          <a:xfrm>
            <a:off x="5768520" y="454866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111" name="Handle 8"/>
          <p:cNvSpPr>
            <a:spLocks noGrp="1"/>
          </p:cNvSpPr>
          <p:nvPr>
            <p:ph type="body" sz="quarter" idx="51" hasCustomPrompt="1"/>
          </p:nvPr>
        </p:nvSpPr>
        <p:spPr>
          <a:xfrm>
            <a:off x="5768520" y="486805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12" name="Followers 8"/>
          <p:cNvSpPr>
            <a:spLocks noGrp="1"/>
          </p:cNvSpPr>
          <p:nvPr>
            <p:ph type="body" sz="quarter" idx="52" hasCustomPrompt="1"/>
          </p:nvPr>
        </p:nvSpPr>
        <p:spPr>
          <a:xfrm>
            <a:off x="5768520" y="5187444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113" name="Pic 9"/>
          <p:cNvSpPr>
            <a:spLocks noGrp="1"/>
          </p:cNvSpPr>
          <p:nvPr>
            <p:ph type="pic" sz="quarter" idx="53"/>
          </p:nvPr>
        </p:nvSpPr>
        <p:spPr>
          <a:xfrm>
            <a:off x="8082281" y="4511203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114" name="Influencer 9"/>
          <p:cNvSpPr>
            <a:spLocks noGrp="1"/>
          </p:cNvSpPr>
          <p:nvPr>
            <p:ph type="body" sz="quarter" idx="54" hasCustomPrompt="1"/>
          </p:nvPr>
        </p:nvSpPr>
        <p:spPr>
          <a:xfrm>
            <a:off x="9388973" y="454866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115" name="Handle 9"/>
          <p:cNvSpPr>
            <a:spLocks noGrp="1"/>
          </p:cNvSpPr>
          <p:nvPr>
            <p:ph type="body" sz="quarter" idx="55" hasCustomPrompt="1"/>
          </p:nvPr>
        </p:nvSpPr>
        <p:spPr>
          <a:xfrm>
            <a:off x="9388973" y="486805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16" name="Followers 9"/>
          <p:cNvSpPr>
            <a:spLocks noGrp="1"/>
          </p:cNvSpPr>
          <p:nvPr>
            <p:ph type="body" sz="quarter" idx="56" hasCustomPrompt="1"/>
          </p:nvPr>
        </p:nvSpPr>
        <p:spPr>
          <a:xfrm>
            <a:off x="9388973" y="5187444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4407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4F5A4-8D5B-4493-9634-DA6247F7FBB6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F389F-E4CD-4587-B257-8B9ECD408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3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0" r:id="rId3"/>
    <p:sldLayoutId id="2147483663" r:id="rId4"/>
    <p:sldLayoutId id="2147483667" r:id="rId5"/>
    <p:sldLayoutId id="2147483661" r:id="rId6"/>
    <p:sldLayoutId id="2147483666" r:id="rId7"/>
    <p:sldLayoutId id="2147483662" r:id="rId8"/>
    <p:sldLayoutId id="214748366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Relationship Id="rId10" Type="http://schemas.openxmlformats.org/officeDocument/2006/relationships/image" Target="../media/image11.jpg"/><Relationship Id="rId11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chart" Target="../charts/char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chart" Target="../charts/char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Relationship Id="rId10" Type="http://schemas.openxmlformats.org/officeDocument/2006/relationships/image" Target="../media/image33.jpg"/><Relationship Id="rId11" Type="http://schemas.openxmlformats.org/officeDocument/2006/relationships/image" Target="../media/image3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chart" Target="../charts/char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DIGITAL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MEDIA REPORT</a:t>
            </a:r>
          </a:p>
        </p:txBody>
      </p:sp>
      <p:pic>
        <p:nvPicPr>
          <p:cNvPr id="4" name="Picture Placeholder 3" descr="report-cover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l="6296" r="6296"/>
          <a:stretch>
            <a:fillRect/>
          </a:stretch>
        </p:blipFill>
        <p:spPr/>
      </p:pic>
      <p:pic>
        <p:nvPicPr>
          <p:cNvPr id="5" name="Picture Placeholder 4" descr="image.png"/>
          <p:cNvPicPr>
            <a:picLocks noGrp="1" noChangeAspect="1"/>
          </p:cNvPicPr>
          <p:nvPr>
            <p:ph type="pic" idx="15" sz="quarter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YOUTUBE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SENTIMENT ANALYSIS - YOUTUBE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24" sz="quarter"/>
          </p:nvPr>
        </p:nvGraphicFramePr>
        <p:xfrm>
          <a:off x="5314422" y="2388173"/>
          <a:ext cx="6255785" cy="29337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27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>
                <a:solidFill>
                  <a:srgbClr val="43B02A"/>
                </a:solidFill>
              </a:rPr>
              <a:t>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>
                <a:solidFill>
                  <a:srgbClr val="FF4444"/>
                </a:solidFill>
              </a:rPr>
              <a:t>3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>
                <a:solidFill>
                  <a:srgbClr val="808080"/>
                </a:solidFill>
              </a:rPr>
              <a:t>20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11" name="Picture Placeholder 10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12" name="Rectangle 11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TRENDING TOPICS AND KEYWORDS - YOUTUBE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7" name="Rectangle 6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 t="8686" b="868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Citizen TV Kenya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@/@kenyacitizentv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21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TOP INFLUENCERS - YOUTUBE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9" name="Picture Placeholder 8" descr="image.jpg"/>
          <p:cNvPicPr>
            <a:picLocks noGrp="1" noChangeAspect="1"/>
          </p:cNvPicPr>
          <p:nvPr>
            <p:ph type="pic" idx="25" sz="quarter"/>
          </p:nvPr>
        </p:nvPicPr>
        <p:blipFill>
          <a:blip r:embed="rId4"/>
          <a:srcRect t="8686" b="868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Joshua Aura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@/@joshuaaura4340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13" name="Picture Placeholder 12" descr="image.jpg"/>
          <p:cNvPicPr>
            <a:picLocks noGrp="1" noChangeAspect="1"/>
          </p:cNvPicPr>
          <p:nvPr>
            <p:ph type="pic" idx="29" sz="quarter"/>
          </p:nvPr>
        </p:nvPicPr>
        <p:blipFill>
          <a:blip r:embed="rId5"/>
          <a:srcRect t="8686" b="8686"/>
          <a:stretch>
            <a:fillRect/>
          </a:stretch>
        </p:blipFill>
        <p:spPr/>
      </p:pic>
      <p:sp>
        <p:nvSpPr>
          <p:cNvPr id="14" name="Text Placeholder 13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ZionPearl Global Network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@/@ZionPearlGlobalNetwork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17" name="Picture Placeholder 16" descr="image.jpg"/>
          <p:cNvPicPr>
            <a:picLocks noGrp="1" noChangeAspect="1"/>
          </p:cNvPicPr>
          <p:nvPr>
            <p:ph type="pic" idx="33" sz="quarter"/>
          </p:nvPr>
        </p:nvPicPr>
        <p:blipFill>
          <a:blip r:embed="rId6"/>
          <a:srcRect t="8686" b="8686"/>
          <a:stretch>
            <a:fillRect/>
          </a:stretch>
        </p:blipFill>
        <p:spPr/>
      </p:pic>
      <p:sp>
        <p:nvSpPr>
          <p:cNvPr id="18" name="Text Placeholder 17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Icpak Kenya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@/@icpakkenya3468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21" name="Picture Placeholder 20" descr="image.jpg"/>
          <p:cNvPicPr>
            <a:picLocks noGrp="1" noChangeAspect="1"/>
          </p:cNvPicPr>
          <p:nvPr>
            <p:ph type="pic" idx="37" sz="quarter"/>
          </p:nvPr>
        </p:nvPicPr>
        <p:blipFill>
          <a:blip r:embed="rId7"/>
          <a:srcRect t="8686" b="8686"/>
          <a:stretch>
            <a:fillRect/>
          </a:stretch>
        </p:blipFill>
        <p:spPr/>
      </p:pic>
      <p:sp>
        <p:nvSpPr>
          <p:cNvPr id="22" name="Text Placeholder 2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Women summit online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@/@womensummitonline4704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25" name="Picture Placeholder 24" descr="image.jpg"/>
          <p:cNvPicPr>
            <a:picLocks noGrp="1" noChangeAspect="1"/>
          </p:cNvPicPr>
          <p:nvPr>
            <p:ph type="pic" idx="41" sz="quarter"/>
          </p:nvPr>
        </p:nvPicPr>
        <p:blipFill>
          <a:blip r:embed="rId8"/>
          <a:srcRect t="8686" b="8686"/>
          <a:stretch>
            <a:fillRect/>
          </a:stretch>
        </p:blipFill>
        <p:spPr/>
      </p:pic>
      <p:sp>
        <p:nvSpPr>
          <p:cNvPr id="26" name="Text Placeholder 25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RCM ONLINE COLLEGE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@/@rcmonlinecollege3043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29" name="Picture Placeholder 28" descr="image.jpg"/>
          <p:cNvPicPr>
            <a:picLocks noGrp="1" noChangeAspect="1"/>
          </p:cNvPicPr>
          <p:nvPr>
            <p:ph type="pic" idx="45" sz="quarter"/>
          </p:nvPr>
        </p:nvPicPr>
        <p:blipFill>
          <a:blip r:embed="rId9"/>
          <a:srcRect t="8686" b="8686"/>
          <a:stretch>
            <a:fillRect/>
          </a:stretch>
        </p:blipFill>
        <p:spPr/>
      </p:pic>
      <p:sp>
        <p:nvSpPr>
          <p:cNvPr id="30" name="Text Placeholder 29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r>
              <a:t>Susan Wanjiku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@/@susan.wanjiku_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33" name="Picture Placeholder 32" descr="image.jpg"/>
          <p:cNvPicPr>
            <a:picLocks noGrp="1" noChangeAspect="1"/>
          </p:cNvPicPr>
          <p:nvPr>
            <p:ph type="pic" idx="49" sz="quarter"/>
          </p:nvPr>
        </p:nvPicPr>
        <p:blipFill>
          <a:blip r:embed="rId10"/>
          <a:srcRect t="8686" b="8686"/>
          <a:stretch>
            <a:fillRect/>
          </a:stretch>
        </p:blipFill>
        <p:spPr/>
      </p:pic>
      <p:sp>
        <p:nvSpPr>
          <p:cNvPr id="34" name="Text Placeholder 3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RADIO MARIA KENYA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@/@RadioMariaKenya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37" name="Picture Placeholder 36" descr="image.jpg"/>
          <p:cNvPicPr>
            <a:picLocks noGrp="1" noChangeAspect="1"/>
          </p:cNvPicPr>
          <p:nvPr>
            <p:ph type="pic" idx="53" sz="quarter"/>
          </p:nvPr>
        </p:nvPicPr>
        <p:blipFill>
          <a:blip r:embed="rId11"/>
          <a:srcRect t="8686" b="8686"/>
          <a:stretch>
            <a:fillRect/>
          </a:stretch>
        </p:blipFill>
        <p:spPr/>
      </p:pic>
      <p:sp>
        <p:nvSpPr>
          <p:cNvPr id="38" name="Text Placeholder 37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>
            <a:r>
              <a:t>DMMEDIA OFFICIAL 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@/@DMMEDIA-OFFICIAL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idx="56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LINKEDIN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VOLUME OF MENTIONS - LINKEDIN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graphicFrame>
        <p:nvGraphicFramePr>
          <p:cNvPr id="7" name="Chart Placeholder 6"/>
          <p:cNvGraphicFramePr>
            <a:graphicFrameLocks noGrp="1"/>
          </p:cNvGraphicFramePr>
          <p:nvPr>
            <p:ph type="chart" idx="23" sz="quarter"/>
          </p:nvPr>
        </p:nvGraphicFramePr>
        <p:xfrm>
          <a:off x="835025" y="2157413"/>
          <a:ext cx="10734675" cy="31464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SENTIMENT ANALYSIS - LINKEDIN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24" sz="quarter"/>
          </p:nvPr>
        </p:nvGraphicFramePr>
        <p:xfrm>
          <a:off x="5314422" y="2388173"/>
          <a:ext cx="6255785" cy="29337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>
                <a:solidFill>
                  <a:srgbClr val="43B02A"/>
                </a:solidFill>
              </a:rPr>
              <a:t>86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>
                <a:solidFill>
                  <a:srgbClr val="FF4444"/>
                </a:solidFill>
              </a:rP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>
                <a:solidFill>
                  <a:srgbClr val="808080"/>
                </a:solidFill>
              </a:rPr>
              <a:t>10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11" name="Picture Placeholder 10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12" name="Rectangle 11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TRENDING TOPICS AND KEYWORDS - LINKEDIN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7" name="Rectangle 6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Prof. CPA. Elizabeth Kalunda M.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@prof-cpa-elizabeth-kalunda-m-1b722235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21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TOP INFLUENCERS - LINKEDIN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9" name="Picture Placeholder 8" descr="image.jpg"/>
          <p:cNvPicPr>
            <a:picLocks noGrp="1" noChangeAspect="1"/>
          </p:cNvPicPr>
          <p:nvPr>
            <p:ph type="pic" idx="25" sz="quarter"/>
          </p:nvPr>
        </p:nvPicPr>
        <p:blipFill>
          <a:blip r:embed="rId3"/>
          <a:srcRect t="8686" b="868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Association of Women Accountants of Kenya - AWAK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@awak-kenya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13" name="Picture Placeholder 12" descr="image.jpg"/>
          <p:cNvPicPr>
            <a:picLocks noGrp="1" noChangeAspect="1"/>
          </p:cNvPicPr>
          <p:nvPr>
            <p:ph type="pic" idx="29" sz="quarter"/>
          </p:nvPr>
        </p:nvPicPr>
        <p:blipFill>
          <a:blip r:embed="rId4"/>
          <a:srcRect t="8686" b="8686"/>
          <a:stretch>
            <a:fillRect/>
          </a:stretch>
        </p:blipFill>
        <p:spPr/>
      </p:pic>
      <p:sp>
        <p:nvSpPr>
          <p:cNvPr id="14" name="Text Placeholder 13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ICPAK (Institute of Certified Public Accountants of Kenya)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@icpakkenya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17" name="Picture Placeholder 16" descr="image.jpg"/>
          <p:cNvPicPr>
            <a:picLocks noGrp="1" noChangeAspect="1"/>
          </p:cNvPicPr>
          <p:nvPr>
            <p:ph type="pic" idx="33" sz="quarter"/>
          </p:nvPr>
        </p:nvPicPr>
        <p:blipFill>
          <a:blip r:embed="rId5"/>
          <a:srcRect t="8686" b="8686"/>
          <a:stretch>
            <a:fillRect/>
          </a:stretch>
        </p:blipFill>
        <p:spPr/>
      </p:pic>
      <p:sp>
        <p:nvSpPr>
          <p:cNvPr id="18" name="Text Placeholder 17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ZionPearl Publishers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@zionpearl-publishers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21" name="Picture Placeholder 20" descr="image.jpg"/>
          <p:cNvPicPr>
            <a:picLocks noGrp="1" noChangeAspect="1"/>
          </p:cNvPicPr>
          <p:nvPr>
            <p:ph type="pic" idx="37" sz="quarter"/>
          </p:nvPr>
        </p:nvPicPr>
        <p:blipFill>
          <a:blip r:embed="rId6"/>
          <a:srcRect t="8686" b="8686"/>
          <a:stretch>
            <a:fillRect/>
          </a:stretch>
        </p:blipFill>
        <p:spPr/>
      </p:pic>
      <p:sp>
        <p:nvSpPr>
          <p:cNvPr id="22" name="Text Placeholder 2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CPA Umeme Steve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@umemesteve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25" name="Picture Placeholder 24" descr="image.jpg"/>
          <p:cNvPicPr>
            <a:picLocks noGrp="1" noChangeAspect="1"/>
          </p:cNvPicPr>
          <p:nvPr>
            <p:ph type="pic" idx="41" sz="quarter"/>
          </p:nvPr>
        </p:nvPicPr>
        <p:blipFill>
          <a:blip r:embed="rId7"/>
          <a:srcRect t="8686" b="8686"/>
          <a:stretch>
            <a:fillRect/>
          </a:stretch>
        </p:blipFill>
        <p:spPr/>
      </p:pic>
      <p:sp>
        <p:nvSpPr>
          <p:cNvPr id="26" name="Text Placeholder 25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Start Up Shujaa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@start-up-shujaa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29" name="Picture Placeholder 28" descr="image.jpg"/>
          <p:cNvPicPr>
            <a:picLocks noGrp="1" noChangeAspect="1"/>
          </p:cNvPicPr>
          <p:nvPr>
            <p:ph type="pic" idx="45" sz="quarter"/>
          </p:nvPr>
        </p:nvPicPr>
        <p:blipFill>
          <a:blip r:embed="rId8"/>
          <a:srcRect t="8686" b="8686"/>
          <a:stretch>
            <a:fillRect/>
          </a:stretch>
        </p:blipFill>
        <p:spPr/>
      </p:pic>
      <p:sp>
        <p:nvSpPr>
          <p:cNvPr id="30" name="Text Placeholder 29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r>
              <a:t>Ananya Pal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@ananya-d-pal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33" name="Picture Placeholder 32" descr="image.jpg"/>
          <p:cNvPicPr>
            <a:picLocks noGrp="1" noChangeAspect="1"/>
          </p:cNvPicPr>
          <p:nvPr>
            <p:ph type="pic" idx="49" sz="quarter"/>
          </p:nvPr>
        </p:nvPicPr>
        <p:blipFill>
          <a:blip r:embed="rId9"/>
          <a:srcRect t="8686" b="8686"/>
          <a:stretch>
            <a:fillRect/>
          </a:stretch>
        </p:blipFill>
        <p:spPr/>
      </p:pic>
      <p:sp>
        <p:nvSpPr>
          <p:cNvPr id="34" name="Text Placeholder 3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Priscilla Kerebi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@priscilla-kerebi-18a40558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37" name="Picture Placeholder 36" descr="image.jpg"/>
          <p:cNvPicPr>
            <a:picLocks noGrp="1" noChangeAspect="1"/>
          </p:cNvPicPr>
          <p:nvPr>
            <p:ph type="pic" idx="53" sz="quarter"/>
          </p:nvPr>
        </p:nvPicPr>
        <p:blipFill>
          <a:blip r:embed="rId10"/>
          <a:srcRect t="8686" b="8686"/>
          <a:stretch>
            <a:fillRect/>
          </a:stretch>
        </p:blipFill>
        <p:spPr/>
      </p:pic>
      <p:sp>
        <p:nvSpPr>
          <p:cNvPr id="38" name="Text Placeholder 37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>
            <a:r>
              <a:t>CPA Dauglas Muhati, MKIM, MIHRM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@daggy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idx="56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TWITTER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VOLUME OF MENTIONS - TWITTER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graphicFrame>
        <p:nvGraphicFramePr>
          <p:cNvPr id="7" name="Chart Placeholder 6"/>
          <p:cNvGraphicFramePr>
            <a:graphicFrameLocks noGrp="1"/>
          </p:cNvGraphicFramePr>
          <p:nvPr>
            <p:ph type="chart" idx="23" sz="quarter"/>
          </p:nvPr>
        </p:nvGraphicFramePr>
        <p:xfrm>
          <a:off x="835025" y="2157413"/>
          <a:ext cx="10734675" cy="31464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SENTIMENT ANALYSIS - TWITTER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24" sz="quarter"/>
          </p:nvPr>
        </p:nvGraphicFramePr>
        <p:xfrm>
          <a:off x="5314422" y="2388173"/>
          <a:ext cx="6255785" cy="29337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24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>
                <a:solidFill>
                  <a:srgbClr val="43B02A"/>
                </a:solidFill>
              </a:rPr>
              <a:t>14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>
                <a:solidFill>
                  <a:srgbClr val="FF4444"/>
                </a:solidFill>
              </a:rPr>
              <a:t>7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>
                <a:solidFill>
                  <a:srgbClr val="808080"/>
                </a:solidFill>
              </a:rPr>
              <a:t>3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11" name="Picture Placeholder 10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12" name="Rectangle 11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TRENDING TOPICS AND KEYWORDS - TWITTER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7" name="Rectangle 6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 t="8686" b="868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ICPAK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@ICPAK_Kenya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21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TOP INFLUENCERS - TWITTER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9" name="Picture Placeholder 8" descr="image.jpg"/>
          <p:cNvPicPr>
            <a:picLocks noGrp="1" noChangeAspect="1"/>
          </p:cNvPicPr>
          <p:nvPr>
            <p:ph type="pic" idx="25" sz="quarter"/>
          </p:nvPr>
        </p:nvPicPr>
        <p:blipFill>
          <a:blip r:embed="rId4"/>
          <a:srcRect t="8686" b="868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VisionONE Access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@visiononeaccess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TIKTOK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VOLUME OF MENTIONS - TIKTOK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graphicFrame>
        <p:nvGraphicFramePr>
          <p:cNvPr id="7" name="Chart Placeholder 6"/>
          <p:cNvGraphicFramePr>
            <a:graphicFrameLocks noGrp="1"/>
          </p:cNvGraphicFramePr>
          <p:nvPr>
            <p:ph type="chart" idx="23" sz="quarter"/>
          </p:nvPr>
        </p:nvGraphicFramePr>
        <p:xfrm>
          <a:off x="835025" y="2157413"/>
          <a:ext cx="10734675" cy="31464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SENTIMENT ANALYSIS - TIKTOK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24" sz="quarter"/>
          </p:nvPr>
        </p:nvGraphicFramePr>
        <p:xfrm>
          <a:off x="5314422" y="2388173"/>
          <a:ext cx="6255785" cy="29337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>
                <a:solidFill>
                  <a:srgbClr val="43B02A"/>
                </a:solidFill>
              </a:rPr>
              <a:t>17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>
                <a:solidFill>
                  <a:srgbClr val="FF4444"/>
                </a:solidFill>
              </a:rPr>
              <a:t>7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>
                <a:solidFill>
                  <a:srgbClr val="808080"/>
                </a:solidFill>
              </a:rPr>
              <a:t>76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11" name="Picture Placeholder 10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12" name="Rectangle 11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TRENDING TOPICS AND KEYWORDS - TIKTOK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7" name="Rectangle 6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 t="8686" b="868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@lizkalunda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21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TOP INFLUENCERS - TIKTOK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9" name="Picture Placeholder 8" descr="image.jpg"/>
          <p:cNvPicPr>
            <a:picLocks noGrp="1" noChangeAspect="1"/>
          </p:cNvPicPr>
          <p:nvPr>
            <p:ph type="pic" idx="25" sz="quarter"/>
          </p:nvPr>
        </p:nvPicPr>
        <p:blipFill>
          <a:blip r:embed="rId4"/>
          <a:srcRect t="8686" b="868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@getthepointmedia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13" name="Picture Placeholder 12" descr="image.jpg"/>
          <p:cNvPicPr>
            <a:picLocks noGrp="1" noChangeAspect="1"/>
          </p:cNvPicPr>
          <p:nvPr>
            <p:ph type="pic" idx="29" sz="quarter"/>
          </p:nvPr>
        </p:nvPicPr>
        <p:blipFill>
          <a:blip r:embed="rId5"/>
          <a:srcRect t="8686" b="8686"/>
          <a:stretch>
            <a:fillRect/>
          </a:stretch>
        </p:blipFill>
        <p:spPr/>
      </p:pic>
      <p:sp>
        <p:nvSpPr>
          <p:cNvPr id="14" name="Text Placeholder 13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/>
        </p:txBody>
      </p:sp>
      <p:sp>
        <p:nvSpPr>
          <p:cNvPr id="15" name="Text Placeholder 1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@phyllismotangi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17" name="Picture Placeholder 16" descr="image.jpg"/>
          <p:cNvPicPr>
            <a:picLocks noGrp="1" noChangeAspect="1"/>
          </p:cNvPicPr>
          <p:nvPr>
            <p:ph type="pic" idx="33" sz="quarter"/>
          </p:nvPr>
        </p:nvPicPr>
        <p:blipFill>
          <a:blip r:embed="rId6"/>
          <a:srcRect t="8686" b="8686"/>
          <a:stretch>
            <a:fillRect/>
          </a:stretch>
        </p:blipFill>
        <p:spPr/>
      </p:pic>
      <p:sp>
        <p:nvSpPr>
          <p:cNvPr id="18" name="Text Placeholder 17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/>
        </p:txBody>
      </p:sp>
      <p:sp>
        <p:nvSpPr>
          <p:cNvPr id="19" name="Text Placeholder 18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@milla2641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21" name="Picture Placeholder 20" descr="image.jpg"/>
          <p:cNvPicPr>
            <a:picLocks noGrp="1" noChangeAspect="1"/>
          </p:cNvPicPr>
          <p:nvPr>
            <p:ph type="pic" idx="37" sz="quarter"/>
          </p:nvPr>
        </p:nvPicPr>
        <p:blipFill>
          <a:blip r:embed="rId7"/>
          <a:srcRect t="8686" b="8686"/>
          <a:stretch>
            <a:fillRect/>
          </a:stretch>
        </p:blipFill>
        <p:spPr/>
      </p:pic>
      <p:sp>
        <p:nvSpPr>
          <p:cNvPr id="22" name="Text Placeholder 2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/>
        </p:txBody>
      </p:sp>
      <p:sp>
        <p:nvSpPr>
          <p:cNvPr id="23" name="Text Placeholder 22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@levisobare5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25" name="Picture Placeholder 24" descr="image.jpg"/>
          <p:cNvPicPr>
            <a:picLocks noGrp="1" noChangeAspect="1"/>
          </p:cNvPicPr>
          <p:nvPr>
            <p:ph type="pic" idx="41" sz="quarter"/>
          </p:nvPr>
        </p:nvPicPr>
        <p:blipFill>
          <a:blip r:embed="rId8"/>
          <a:srcRect t="8686" b="8686"/>
          <a:stretch>
            <a:fillRect/>
          </a:stretch>
        </p:blipFill>
        <p:spPr/>
      </p:pic>
      <p:sp>
        <p:nvSpPr>
          <p:cNvPr id="26" name="Text Placeholder 25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/>
        </p:txBody>
      </p:sp>
      <p:sp>
        <p:nvSpPr>
          <p:cNvPr id="27" name="Text Placeholder 26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@mc_adektatu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29" name="Picture Placeholder 28" descr="image.jpg"/>
          <p:cNvPicPr>
            <a:picLocks noGrp="1" noChangeAspect="1"/>
          </p:cNvPicPr>
          <p:nvPr>
            <p:ph type="pic" idx="45" sz="quarter"/>
          </p:nvPr>
        </p:nvPicPr>
        <p:blipFill>
          <a:blip r:embed="rId9"/>
          <a:srcRect t="8686" b="8686"/>
          <a:stretch>
            <a:fillRect/>
          </a:stretch>
        </p:blipFill>
        <p:spPr/>
      </p:pic>
      <p:sp>
        <p:nvSpPr>
          <p:cNvPr id="30" name="Text Placeholder 29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/>
        </p:txBody>
      </p:sp>
      <p:sp>
        <p:nvSpPr>
          <p:cNvPr id="31" name="Text Placeholder 3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@brevictwine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33" name="Picture Placeholder 32" descr="image.jpg"/>
          <p:cNvPicPr>
            <a:picLocks noGrp="1" noChangeAspect="1"/>
          </p:cNvPicPr>
          <p:nvPr>
            <p:ph type="pic" idx="49" sz="quarter"/>
          </p:nvPr>
        </p:nvPicPr>
        <p:blipFill>
          <a:blip r:embed="rId10"/>
          <a:srcRect t="8686" b="8686"/>
          <a:stretch>
            <a:fillRect/>
          </a:stretch>
        </p:blipFill>
        <p:spPr/>
      </p:pic>
      <p:sp>
        <p:nvSpPr>
          <p:cNvPr id="34" name="Text Placeholder 3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/>
        </p:txBody>
      </p:sp>
      <p:sp>
        <p:nvSpPr>
          <p:cNvPr id="35" name="Text Placeholder 34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@sir.niagah.com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37" name="Picture Placeholder 36" descr="image.jpg"/>
          <p:cNvPicPr>
            <a:picLocks noGrp="1" noChangeAspect="1"/>
          </p:cNvPicPr>
          <p:nvPr>
            <p:ph type="pic" idx="53" sz="quarter"/>
          </p:nvPr>
        </p:nvPicPr>
        <p:blipFill>
          <a:blip r:embed="rId11"/>
          <a:srcRect t="8686" b="8686"/>
          <a:stretch>
            <a:fillRect/>
          </a:stretch>
        </p:blipFill>
        <p:spPr/>
      </p:pic>
      <p:sp>
        <p:nvSpPr>
          <p:cNvPr id="38" name="Text Placeholder 37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/>
        </p:txBody>
      </p:sp>
      <p:sp>
        <p:nvSpPr>
          <p:cNvPr id="39" name="Text Placeholder 38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@elizabethkaundula391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idx="56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FACEBOOK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VOLUME OF MENTIONS - FACEBOOK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graphicFrame>
        <p:nvGraphicFramePr>
          <p:cNvPr id="7" name="Chart Placeholder 6"/>
          <p:cNvGraphicFramePr>
            <a:graphicFrameLocks noGrp="1"/>
          </p:cNvGraphicFramePr>
          <p:nvPr>
            <p:ph type="chart" idx="23" sz="quarter"/>
          </p:nvPr>
        </p:nvGraphicFramePr>
        <p:xfrm>
          <a:off x="835025" y="2157413"/>
          <a:ext cx="10734675" cy="31464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SENTIMENT ANALYSIS - FACEBOOK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24" sz="quarter"/>
          </p:nvPr>
        </p:nvGraphicFramePr>
        <p:xfrm>
          <a:off x="5314422" y="2388173"/>
          <a:ext cx="6255785" cy="29337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17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>
                <a:solidFill>
                  <a:srgbClr val="43B02A"/>
                </a:solidFill>
              </a:rPr>
              <a:t>14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>
                <a:solidFill>
                  <a:srgbClr val="FF4444"/>
                </a:solidFill>
              </a:rPr>
              <a:t>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>
                <a:solidFill>
                  <a:srgbClr val="808080"/>
                </a:solidFill>
              </a:rPr>
              <a:t>3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11" name="Picture Placeholder 10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12" name="Rectangle 11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TRENDING TOPICS AND KEYWORDS - FACEBOOK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7" name="Rectangle 6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 t="8686" b="868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Elizabeth Kalunda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@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>
                <a:solidFill>
                  <a:srgbClr val="666666"/>
                </a:solidFill>
              </a:rPr>
              <a:t> followers</a:t>
            </a:r>
          </a:p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21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solidFill>
                  <a:srgbClr val="F06634"/>
                </a:solidFill>
              </a:rPr>
              <a:t>TOP INFLUENCERS - FACEBOOK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For: 01 April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66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template" id="{C0FD5AE9-8F7C-483D-9833-EAEF5E09A230}" vid="{64CC456B-D22C-426B-8937-D937278428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46</cp:revision>
  <dcterms:created xsi:type="dcterms:W3CDTF">2025-03-25T16:00:37Z</dcterms:created>
  <dcterms:modified xsi:type="dcterms:W3CDTF">2025-04-01T10:03:47Z</dcterms:modified>
</cp:coreProperties>
</file>